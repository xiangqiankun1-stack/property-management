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859" autoAdjust="0"/>
  </p:normalViewPr>
  <p:slideViewPr>
    <p:cSldViewPr snapToGrid="0">
      <p:cViewPr varScale="1">
        <p:scale>
          <a:sx n="84" d="100"/>
          <a:sy n="84" d="100"/>
        </p:scale>
        <p:origin x="106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老师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们，同学们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下午好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接下来由我们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“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智慧物业管理系统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的答辩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这个系统旨在利用现代信息技术，解决传统物业管理中存在的信息孤岛、效率低下、流程繁琐等痛点，实现物业业务的全面数字化转型。接下来，我们将从项目背景、系统架构、核心功能、技术亮点等几个方面进行详细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以下几个核心部分展开。首先，我们会介绍项目的背景，分析传统物业管理面临的挑战。接着，将详细介绍项目的目标、核心功能和系统特色。之后，我们会深入剖析系统的技术架构、所使用的技术栈以及数据库设计。随后，通过核心业务流程和实际功能演示，展示系统的具体运作方式。最后，我们会总结项目的技术亮点、团队协作情况，并对未来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启动之初，我们深入调研了传统物业管理模式。我们发现，传统物业普遍面临五大痛点：信息孤岛导致数据分散；过度依赖人工操作导致效率低下；繁琐的服务流程影响业主体验；复杂的收费管理给财务带来巨大压力；以及物业与业主之间沟通不畅。这些问题严重制约了物业管理水平的提升。因此，我们的项目愿景就是构建一个统一、高效、智能的平台，彻底解决这些痛点，推动物业管理的数字化转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简要介绍我们的项目。项目目标是构建一个综合性的物业管理平台，实现运营的数字化和智能化。系统的核心功能包括基础信息、物业服务、收费财务、系统权限和数据统计五大模块。我们的系统特色在于采用了前后端分离架构和响应式设计，并强调流程化管理和数据可视化。这个项目不仅能为物业和业主带来实际价值，对我们团队成员而言，也是一次综合运用Java Web全栈技术的宝贵实践。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这是我们系统的总体架构图。整个架构分为五层。最上层是表现层，用户通过浏览器访问由Vue3和Element Plus构建的前端界面。接口层通过Axios和Swagger实现前后端的通信和文档化。核心的业务逻辑层由Spring Boot框架支撑，并集成了JWT进行安全认证。数据访问层使用MyBatis Plus简化数据库操作。最底层是MySQL数据库，负责数据的持久化存储。这个分层架构清晰，各层职责明确，保证了系统的高内聚和低耦合。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我们项目选用了当前业界主流且成熟稳定的技术栈。前端采用Vue3框架结合Element Plus组件库，实现了高效的开发和良好的用户体验。后端核心是Spring Boot框架，搭配MyBatis Plus进行数据访问。数据库选用MySQL。为了保证系统安全，我们引入了JWT进行身份认证。这套技术组合确保了系统的先进性、稳定性和可维护性。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系统划分为五大核心功能模块。系统管理模块负责底层的权限控制；基础信息管理模块维护着小区、房屋、业主等核心数据；物业服务管理模块处理报修、投诉等业主互动；收费管理模块负责所有费用的生成与收缴；统计分析模块则通过数据可视化辅助管理决策。这五大模块相互协作，构成了完整的智慧物业管理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系统的基石。我们设计了名为property_management的数据库，包含18张核心表。权限管理上，我们采用了成熟的RBAC模型。在设计规范上，我们严格遵循第三范式以减少数据冗余，并采用逻辑删除和索引优化来保证数据的安全性和查询效率。这些表按照业务逻辑被划分为权限、基础信息、业务和财务四大模块，结构清晰，关系明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直观地了解系统如何运作，我们以“在线报修”这一核心业务为例。整个流程从业主登录系统提交报修单开始，到管理员受理分配，再到维修人员接单处理，最后由业主验收评价，形成了一个完整的闭环。这个流程清晰、透明，每一步都有记录，大大提升了服务效率和业主满意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登录界面和首页。左侧是标准的登录页，右侧是登录后的首页仪表盘，展示了关键统计数据和快捷入口。在技术实现上，我们采用了JWT进行无状态登录认证，确保了接口安全。同时，系统会根据用户角色动态生成菜单和权限，实现了精细化的访问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功能演示部分。首先是系统管理模块，这是保障系统安全运行的核心。如图所示，我们实现了用户管理、角色管理、权限管理和菜单管理。管理员可以灵活地创建用户、分配角色、配置权限和管理菜单，实现了对整个系统访问权限的精细化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演示的是基础信息管理模块。这里我们实现了小区、楼栋、房屋和业主信息的管理。通过这个模块，物业可以建立起完整的小区资产和人员档案，所有信息一目了然，为后续的物业服务和收费管理打下坚实的数据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演示的是核心业务模块，包括报修管理、投诉建议、收费管理和缴费管理。这些模块直接面向业主和物业的日常工作，实现了服务请求的在线化、流程化，以及费用管理的自动化、信息化，极大地提升了业务处理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上，我们的系统有六个主要亮点。我们采用了JWT认证和RBAC权限模型来保障系统安全；通过前后端分离提升了开发效率；对分页查询进行了优化以保证大数据量下的性能；使用逻辑删除保证了数据安全；并通过模块化开发保证了系统的可扩展性。这些技术的应用，使得我们的系统架构清晰、安全可靠，是一个现代化的企业级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顺利完成离不开团队成员的紧密协作。我们遵循敏捷开发流程，历时11周，依次完成了需求分析、数据库设计、后端开发、前端开发、测试联调以及最终的部署和文档撰写。团队成员分工明确，组长负责整体架构和核心开发，其他成员分别负责后端、前端和测试工作，确保了项目的高效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最后，对本次项目进行总结与展望。我们成功设计了18张数据库表，实现了超过12个功能模块和50个REST API接口，100%完成了课程设计的要求。展望未来，我们计划在用户端拓展微信小程序和巡检APP，在核心业务上集成在线支付和消息推送，并引入AI客服和数据大屏等智能化功能，进一步提升系统的价值。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我的汇报到此结束。感谢各位老师的耐心聆听，我们诚挚地欢迎各位老师提出宝贵的意见和建议。谢谢大家！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1.svg"/><Relationship Id="rId3" Type="http://schemas.openxmlformats.org/officeDocument/2006/relationships/image" Target="../media/image5.jpeg"/><Relationship Id="rId7" Type="http://schemas.openxmlformats.org/officeDocument/2006/relationships/image" Target="../media/image27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11.svg"/><Relationship Id="rId5" Type="http://schemas.openxmlformats.org/officeDocument/2006/relationships/image" Target="../media/image25.svg"/><Relationship Id="rId10" Type="http://schemas.openxmlformats.org/officeDocument/2006/relationships/image" Target="../media/image1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5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jpeg"/><Relationship Id="rId5" Type="http://schemas.openxmlformats.org/officeDocument/2006/relationships/image" Target="../media/image32.jpeg"/><Relationship Id="rId4" Type="http://schemas.openxmlformats.org/officeDocument/2006/relationships/image" Target="../media/image3.jpeg"/><Relationship Id="rId9" Type="http://schemas.openxmlformats.org/officeDocument/2006/relationships/image" Target="../media/image3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3.svg"/><Relationship Id="rId3" Type="http://schemas.openxmlformats.org/officeDocument/2006/relationships/image" Target="../media/image5.jpeg"/><Relationship Id="rId7" Type="http://schemas.openxmlformats.org/officeDocument/2006/relationships/image" Target="../media/image38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5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jpe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57.svg"/><Relationship Id="rId3" Type="http://schemas.openxmlformats.org/officeDocument/2006/relationships/image" Target="../media/image5.jpeg"/><Relationship Id="rId7" Type="http://schemas.openxmlformats.org/officeDocument/2006/relationships/image" Target="../media/image53.sv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5.svg"/><Relationship Id="rId5" Type="http://schemas.openxmlformats.org/officeDocument/2006/relationships/image" Target="../media/image51.svg"/><Relationship Id="rId10" Type="http://schemas.openxmlformats.org/officeDocument/2006/relationships/image" Target="../media/image54.png"/><Relationship Id="rId4" Type="http://schemas.openxmlformats.org/officeDocument/2006/relationships/image" Target="../media/image50.png"/><Relationship Id="rId9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.jpe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sv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.jpeg"/><Relationship Id="rId7" Type="http://schemas.openxmlformats.org/officeDocument/2006/relationships/image" Target="../media/image67.sv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69.svg"/><Relationship Id="rId5" Type="http://schemas.openxmlformats.org/officeDocument/2006/relationships/image" Target="../media/image36.svg"/><Relationship Id="rId10" Type="http://schemas.openxmlformats.org/officeDocument/2006/relationships/image" Target="../media/image68.png"/><Relationship Id="rId4" Type="http://schemas.openxmlformats.org/officeDocument/2006/relationships/image" Target="../media/image35.png"/><Relationship Id="rId9" Type="http://schemas.openxmlformats.org/officeDocument/2006/relationships/image" Target="../media/image5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.jpeg"/><Relationship Id="rId7" Type="http://schemas.openxmlformats.org/officeDocument/2006/relationships/image" Target="../media/image38.sv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67.svg"/><Relationship Id="rId5" Type="http://schemas.openxmlformats.org/officeDocument/2006/relationships/image" Target="../media/image72.svg"/><Relationship Id="rId10" Type="http://schemas.openxmlformats.org/officeDocument/2006/relationships/image" Target="../media/image66.png"/><Relationship Id="rId4" Type="http://schemas.openxmlformats.org/officeDocument/2006/relationships/image" Target="../media/image71.png"/><Relationship Id="rId9" Type="http://schemas.openxmlformats.org/officeDocument/2006/relationships/image" Target="../media/image7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jpeg"/><Relationship Id="rId7" Type="http://schemas.openxmlformats.org/officeDocument/2006/relationships/image" Target="../media/image15.sv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77.svg"/><Relationship Id="rId5" Type="http://schemas.openxmlformats.org/officeDocument/2006/relationships/image" Target="../media/image40.svg"/><Relationship Id="rId10" Type="http://schemas.openxmlformats.org/officeDocument/2006/relationships/image" Target="../media/image76.png"/><Relationship Id="rId4" Type="http://schemas.openxmlformats.org/officeDocument/2006/relationships/image" Target="../media/image39.png"/><Relationship Id="rId9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4.svg"/><Relationship Id="rId3" Type="http://schemas.openxmlformats.org/officeDocument/2006/relationships/image" Target="../media/image5.jpeg"/><Relationship Id="rId7" Type="http://schemas.openxmlformats.org/officeDocument/2006/relationships/image" Target="../media/image63.sv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11" Type="http://schemas.openxmlformats.org/officeDocument/2006/relationships/image" Target="../media/image82.svg"/><Relationship Id="rId5" Type="http://schemas.openxmlformats.org/officeDocument/2006/relationships/image" Target="../media/image80.svg"/><Relationship Id="rId15" Type="http://schemas.openxmlformats.org/officeDocument/2006/relationships/image" Target="../media/image86.svg"/><Relationship Id="rId10" Type="http://schemas.openxmlformats.org/officeDocument/2006/relationships/image" Target="../media/image81.png"/><Relationship Id="rId4" Type="http://schemas.openxmlformats.org/officeDocument/2006/relationships/image" Target="../media/image79.png"/><Relationship Id="rId9" Type="http://schemas.openxmlformats.org/officeDocument/2006/relationships/image" Target="../media/image11.svg"/><Relationship Id="rId14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5.jpeg"/><Relationship Id="rId7" Type="http://schemas.openxmlformats.org/officeDocument/2006/relationships/image" Target="../media/image9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Relationship Id="rId9" Type="http://schemas.openxmlformats.org/officeDocument/2006/relationships/image" Target="../media/image9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智慧物业管理系统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Smart Property Management System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381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Java综合实训课程答辩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" y="5461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软件工程专业</a:t>
            </a:r>
            <a:r>
              <a:rPr lang="zh-CN" alt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实训</a:t>
            </a:r>
            <a:r>
              <a:rPr lang="en-US" altLang="zh-CN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-Java</a:t>
            </a:r>
            <a:b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2026年7</a:t>
            </a:r>
            <a:r>
              <a:rPr lang="zh-CN" alt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月</a:t>
            </a:r>
            <a:r>
              <a:rPr lang="en-US" altLang="zh-CN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zh-CN" alt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82000" y="5435600"/>
            <a:ext cx="9525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l="21774" r="21774"/>
          <a:stretch>
            <a:fillRect/>
          </a:stretch>
        </p:blipFill>
        <p:spPr>
          <a:xfrm>
            <a:off x="9525000" y="5435600"/>
            <a:ext cx="9525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 t="1105" b="1105"/>
          <a:stretch>
            <a:fillRect/>
          </a:stretch>
        </p:blipFill>
        <p:spPr>
          <a:xfrm>
            <a:off x="10668000" y="5435600"/>
            <a:ext cx="9525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14400" y="1930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87500" y="1905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剖析传统物业管理的痛点与数字化转型需求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464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14400" y="30988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30734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项目介绍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阐述系统建设目标、核心功能与应用价值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148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14400" y="42672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87500" y="42418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前后端分离的微服务架构与总体设计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832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5435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87500" y="54102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技术栈选型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Vue3、SpringBoot等核心技术应用解析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06900" y="17780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559300" y="1930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232400" y="1905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用户端、物业端与管理端的功能划分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406900" y="29464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559300" y="30988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32400" y="30734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ER模型构建与核心业务表结构展示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406900" y="41148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559300" y="42672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232400" y="42418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核心业务流程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在线报修、工单分配与处理全流程解析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406900" y="52832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559300" y="5435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232400" y="54102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系统关键功能模块的实际操作与展示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051800" y="17780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204200" y="1905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8839200" y="1905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团队介绍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核心成员组成、分工协作与开发历程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051800" y="2946400"/>
            <a:ext cx="33782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5" name="AutoShape 35"/>
          <p:cNvSpPr/>
          <p:nvPr/>
        </p:nvSpPr>
        <p:spPr>
          <a:xfrm>
            <a:off x="8242300" y="3073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8839200" y="2952003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总结展望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项目成果总结与未来迭代优化规划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8051800" y="4164106"/>
            <a:ext cx="33782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051800" y="4235824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5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科技赋能物业，智慧点亮生活</a:t>
            </a:r>
            <a:r>
              <a:rPr lang="en-US" sz="15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构建高效、便捷、智能的社区管理新生态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项目背景：传统物业管理的挑战与痛点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9558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信息孤岛，数据分散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业主信息、档案及缴费记录散落各处，缺乏统一数据视图，导致查询统计困难，无法为管理决策提供实时数据支撑。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196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9558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人工操作，效率低下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过度依赖人工登记、抄表与核算，不仅耗费大量人力成本，更易出现人为疏漏，导致信息更新滞后、数据准确性差。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19558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流程繁琐，体验不佳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报修投诉需层层转达，工单流转不透明，处理周期长；业主诉求难以及时响应，直接影响居住体验与满意度。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810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39878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收费管理，统计困难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4196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收费项目繁杂，人工核算易出错，催缴效率低；财务报表生成滞后，管理者无法实时掌握收缴率与经营状况，决策缺乏数据支撑。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59500" y="3810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0" y="4000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31000" y="39878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沟通不畅，关系疏远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4196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信息传达渠道单一，业主意见反馈无门；物业与业主间缺乏双向互动，误解与矛盾难以化解，社区凝聚力与归属感薄弱。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524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52500" y="5651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项目愿景：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构建统一、高效、智能的智慧物业管理平台，打破信息壁垒，实现业主服务、设备运维、收费运营等核心业务的全面数字化，打造便捷舒适的智慧社区生活。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8491" y="-7620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032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项目目标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构建集业主、房屋、服务、收费于一体的综合性信息平台，实现物业日常运营的数字化、流程化和智能化升级，全面提升物业管理的服务效率与业主居住体验。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10400" y="2032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核心功能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覆盖基础信息管理、物业报修与投诉闭环处理、收费与财务管理、多级系统权限管控，以及多维度的数据统计与可视化分析五大核心业务模块。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49400" y="4445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系统特色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14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Vue3 + Spring Boot 前后端分离架构，支持多端响应式适配；业务流程全链路可追溯，结合 ECharts 实现数据大屏可视化，直观呈现运营状态。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10400" y="4445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开发意义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14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助力物业降本增效、优化管理流程；为业主提供便捷的线上服务体验；同时为开发团队积累全栈技术实践经验，提升复杂业务系统的设计与开发能力。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33600"/>
            <a:ext cx="20828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387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387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表现层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819400"/>
            <a:ext cx="182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Presentation Layer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5654">
            <a:off x="952524" y="3168650"/>
            <a:ext cx="170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3020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 / Vue3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Element Plus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064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构建响应式交互界面，依托主流前端框架实现组件化开发，保障多端访问的视觉一致性与操作流畅度。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946400" y="2032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946400" y="2133600"/>
            <a:ext cx="20828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900" y="2387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517900" y="2387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接口层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136900" y="2819400"/>
            <a:ext cx="182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Interface Layer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5654">
            <a:off x="3136924" y="3168650"/>
            <a:ext cx="170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3136900" y="33020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3136900" y="4064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实现前后端高效数据通信，自动化生成标准API文档，降低联调成本，确保接口交互的规范性与可维护性。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130800" y="2032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130800" y="2133600"/>
            <a:ext cx="20828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1300" y="2387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702300" y="2387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业务层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321300" y="2819400"/>
            <a:ext cx="182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Business Logic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5654">
            <a:off x="5321324" y="3168650"/>
            <a:ext cx="170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5321300" y="33020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JWT / Maven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321300" y="4064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系统核心处理中枢，提供微服务架构支撑，集成JWT实现无状态安全认证，保障业务逻辑的高效与安全。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15200" y="2032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315200" y="2133600"/>
            <a:ext cx="20828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05700" y="23876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886700" y="2387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访问层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505700" y="2819400"/>
            <a:ext cx="182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Data Access Layer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25654">
            <a:off x="7505724" y="3168650"/>
            <a:ext cx="170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505700" y="33020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 Plus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ORM 映射框架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505700" y="4064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简化数据库CRUD操作，提供强大的条件构造器与分页插件，提升数据交互效率，降低持久层开发复杂度。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499600" y="2032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499600" y="2133600"/>
            <a:ext cx="20828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90100" y="23876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10071100" y="2387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存储层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690100" y="2819400"/>
            <a:ext cx="1828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Data Storage Layer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25654">
            <a:off x="9690124" y="3168650"/>
            <a:ext cx="170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9690100" y="33020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关系型数据库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690100" y="4064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稳定可靠的开源关系型数据库，支持事务处理与复杂查询，为核心业务数据提供安全、高效的持久化存储。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62000" y="5524500"/>
            <a:ext cx="108204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965200" y="56515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架构优势：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采用经典分层设计，实现业务与数据的解耦，便于模块独立迭代与扩展；基于成熟开源技术栈，兼顾开发效率与系统稳定性，为高并发场景提供坚实支撑。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1774" r="21774"/>
          <a:stretch>
            <a:fillRect/>
          </a:stretch>
        </p:blipFill>
        <p:spPr>
          <a:xfrm>
            <a:off x="952500" y="1968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841500" y="19685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Vue3 前端框架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8194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采用组合式API构建高效、可复用的前端组件，响应式系统性能更优，大幅提升开发效率与维护性。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778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37333" r="37333"/>
          <a:stretch>
            <a:fillRect/>
          </a:stretch>
        </p:blipFill>
        <p:spPr>
          <a:xfrm>
            <a:off x="4597400" y="1968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486400" y="19685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Element Plus 组件库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28194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基于Vue3的桌面端组件库，提供丰富的预制UI组件，开箱即用，显著降低开发成本，统一界面风格。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778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42300" y="1968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9131300" y="19685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后端核心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42300" y="28194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“约定大于配置”的框架，简化了Spring应用搭建过程，内嵌服务器，是构建稳定微服务的基石。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l="520" r="520"/>
          <a:stretch>
            <a:fillRect/>
          </a:stretch>
        </p:blipFill>
        <p:spPr>
          <a:xfrm>
            <a:off x="952500" y="4381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1841500" y="43815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 Plus 增强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52324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MyBatis的强力增强工具，提供通用CRUD操作，自动生成SQL，减少大量重复的数据访问代码。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06900" y="419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t="1105" b="1105"/>
          <a:stretch>
            <a:fillRect/>
          </a:stretch>
        </p:blipFill>
        <p:spPr>
          <a:xfrm>
            <a:off x="4597400" y="4381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5486400" y="43815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MySQL 关系型数据库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97400" y="52324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开源轻量级数据库，以高性能、高可靠性和易用性著称，完美支撑业务系统的核心数据存储需求。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51800" y="419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rcRect l="23508" r="23508"/>
          <a:stretch>
            <a:fillRect/>
          </a:stretch>
        </p:blipFill>
        <p:spPr>
          <a:xfrm>
            <a:off x="8242300" y="4381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9131300" y="43815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JWT 安全认证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42300" y="52324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在前后端分离架构中，通过JSON Web Token安全传递用户身份信息，实现高效的无状态认证。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系统功能模块划分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22352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2098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系统管理核心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7305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负责用户账号、角色权限与动态菜单的统一管控，构建系统安全访问的第一道防线，保障平台数据与操作的合规性。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100" y="22352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41900" y="22098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基础信息底座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10100" y="27305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集中管理小区楼栋、房屋档案及业主信息等核心静态数据，为报修、收费、服务等全业务场景提供精准的数据支撑。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2352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86800" y="22098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物业服务闭环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7305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打通在线报修、投诉建议与服务评价的全链路，实现服务需求的快速响应与闭环处理，提升业主居住满意度。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" y="4419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98600" y="441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收费全生命周期管控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" y="4953000"/>
            <a:ext cx="4864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覆盖物业费、水电费等费用的标准定义、智能账单生成、在线收缴、逾期催缴及历史记录查询，实现财务收费的规范化、自动化管理，确保资金流转清晰可溯。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59500" y="4191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2700" y="4419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96100" y="441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数据驱动决策分析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62700" y="4953000"/>
            <a:ext cx="4864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对物业运营、财务收支、业主服务等核心数据进行多维度统计与可视化图表展示，为管理层提供直观的经营分析报表，助力科学决策与精细化运营。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435" r="435"/>
          <a:stretch>
            <a:fillRect/>
          </a:stretch>
        </p:blipFill>
        <p:spPr>
          <a:xfrm>
            <a:off x="762000" y="1651000"/>
            <a:ext cx="5080000" cy="2222500"/>
          </a:xfrm>
          <a:prstGeom prst="rect">
            <a:avLst/>
          </a:prstGeom>
          <a:noFill/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563EB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064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图示为核心业务实体关系模型，直观呈现用户、角色、权限及物业基础信息之间的关联逻辑。通过标准化的表结构设计，确保数据流向清晰、关联关系严谨，为系统的高可用性与可扩展性提供底层支撑。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18415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286500" y="17526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数据库命名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property_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management</a:t>
            </a:r>
          </a:p>
        </p:txBody>
      </p:sp>
      <p:sp>
        <p:nvSpPr>
          <p:cNvPr id="8" name="AutoShape 8"/>
          <p:cNvSpPr/>
          <p:nvPr/>
        </p:nvSpPr>
        <p:spPr>
          <a:xfrm>
            <a:off x="8191500" y="1651000"/>
            <a:ext cx="18415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255000" y="17526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核心表总数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18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张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0" y="1651000"/>
            <a:ext cx="18415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223500" y="17526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RBAC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用户-角色-权限解耦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3175000"/>
            <a:ext cx="1841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302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67500" y="32766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第三范式 (3NF)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消除数据冗余，确保数据结构的原子性与一致性，降低维护成本。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3175000"/>
            <a:ext cx="1841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3302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36000" y="32766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逻辑删除机制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引入is_deleted字段，支持数据历史追溯与快速恢复，规避物理删除风险。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0" y="3175000"/>
            <a:ext cx="1841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87000" y="3302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604500" y="32766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智能索引优化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287000" y="3683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针对高频查询字段建立组合索引，优化查询计划，提升系统响应速度。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0800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89000" y="5207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权限管控模块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user / role / permission / menu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构建细粒度的系统访问控制体系，保障数据安全。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3505200" y="50800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632200" y="5207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🏠 基础档案模块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community / building / house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承载小区、楼宇及业主的静态基础信息档案。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248400" y="50800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375400" y="5207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🔧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物业服务模块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repair / complaint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覆盖报修工单、投诉建议全流程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991600" y="50800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118600" y="5207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💰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财务核算模块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bill / payment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实现费用项配置、账单生成及缴费记录管理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核心业务流程：在线报修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2260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260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业主登录系统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794000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业主通过浏览器访问系统，输入账号密码完成身份验证，进入个人服务中心。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100" y="2260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18100" y="2260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提交报修单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10100" y="2794000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填写报修类型、具体位置、故障描述，一键提交生成工单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260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2260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管理员受理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794000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物业管理员在后台实时收到工单提醒，审核信息后，将任务分配给对应维修人员。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254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" y="44831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73200" y="4483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维修人员处理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" y="5016500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维修人员接单后，携带工具前往现场进行故障排查与维修，确保问题得到解决。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06900" y="4254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10100" y="44831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118100" y="44831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维修完成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10100" y="5016500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维修结束后，更新工单状态为“已完成”，并详细填写维修结果与耗材使用情况。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系统入口与主界面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699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927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2400" y="49276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JWT 无感登录机制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3594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采用无状态Token认证，用户登录后服务端即时签发Token，避免传统Session存储开销，大幅提升系统并发承载能力。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4699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900" y="4927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67300" y="49276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全局 Token 鉴权校验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53594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所有接口请求在Header中自动携带Token，网关层统一解析校验，快速识别身份合法性，有效拦截非法访问与越权请求。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4699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05800" y="4927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12200" y="49276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RBAC 动态权限管控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05800" y="53594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基于角色的访问控制模型，根据用户所属角色动态生成可见菜单与操作按钮，实现数据与功能的精细化隔离，保障业务安全。</a:t>
            </a:r>
            <a:endParaRPr lang="en-US" sz="110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99E6BB7-81A0-85CA-9F66-F9E2FA22D4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4641" y="1600200"/>
            <a:ext cx="3659359" cy="26765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437FB22-A40A-CCA2-D8D6-C216591699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5482" y="1610659"/>
            <a:ext cx="5424834" cy="2666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功能演示：系统管理模块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207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采用直观的列表视图设计，支持多维度筛选与批量操作，让系统账号的管理更加高效、透明。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905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200" y="2108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816600" y="20828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10200" y="2565400"/>
            <a:ext cx="2705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支持用户全生命周期管理，涵盖新增、编辑、状态变更等操作。可灵活为用户分配角色，确保账号安全与权责清晰。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509000" y="1905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2200" y="21082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118600" y="20828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角色管理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12200" y="2565400"/>
            <a:ext cx="2705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按需定义系统角色（如管理员、财务、运营），通过可视化配置为角色分配菜单与操作权限，实现权限的批量管控。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3937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0200" y="4140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816600" y="41148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权限管理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10200" y="4597400"/>
            <a:ext cx="2705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维护系统最小权限颗粒度，覆盖按钮、接口及数据访问权限。作为角色授权的底层基础，确保权限管控无死角。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09000" y="3937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7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12200" y="41402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118600" y="41148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菜单管理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12200" y="4597400"/>
            <a:ext cx="27051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以树形结构动态配置导航菜单，支持增删改、层级调整与状态开关。可快速适配业务迭代，灵活展示功能入口。</a:t>
            </a:r>
            <a:endParaRPr lang="en-US" sz="110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9B18E76-790F-83A3-DC6E-5E62746498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317" y="2321612"/>
            <a:ext cx="4941783" cy="2392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功能演示：基础信息管理模块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1981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1981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小区管理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413000"/>
            <a:ext cx="21971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维护小区核心档案，统一管理名称、地址、容积率及配套设施等基础信息，构建物业数字化管理的底层基础。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778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5700" y="1981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02100" y="1981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楼栋管理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95700" y="2413000"/>
            <a:ext cx="21971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基于小区层级创建楼栋档案，关联单元与楼层信息，形成清晰的“小区-楼栋-单元”资产结构，便于快速定位。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005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200" y="42037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71600" y="42037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房屋管理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5200" y="4635500"/>
            <a:ext cx="21971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精细化管理每套房屋信息，涵盖房号、面积户型、产权状态等，支持一键关联业主，实现房产与人员精准绑定。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92500" y="40005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95700" y="42037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02100" y="42037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业主管理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95700" y="4635500"/>
            <a:ext cx="21971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建立业主信息库，支持批量导入与信息同步，记录联系方式及权属信息，为物业服务与沟通提供数据支撑。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5588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可视化后台仪表盘，实时呈现小区资产与业主数据概览，支持多维度筛选与一键导出，实现物业信息的高效管控与透明化。</a:t>
            </a:r>
            <a:endParaRPr lang="en-US" sz="110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DB8C7E1-90D9-0891-3953-6C80349D99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4418" y="1778000"/>
            <a:ext cx="5304120" cy="25847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功能演示：核心业务模块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08500" y="2159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2387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143500" y="23622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报修管理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762500" y="2857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集中展示全量报修工单，支持按状态智能筛选。管理员可一键受理、分配人员、关闭工单，实现报修流程的闭环管理与高效流转。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55000" y="2159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9000" y="2387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890000" y="23622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投诉建议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509000" y="2857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统一归集业主反馈的诉求，建立标准化的受理与跟进机制。全程记录处理节点，确保每一条建议与投诉都有回应、有闭环。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4191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62500" y="4419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43942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收费管理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62500" y="4889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财务核心操作入口，支持按户、楼栋或批量生成各类费用账单。灵活配置收费标准与周期，自动核算费用，大幅简化人工制表流程。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4191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9000" y="4419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43942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缴费管理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509000" y="4889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业主可在线查看账单并快捷支付，物业端实时监控缴费进度与统计数据。实现费用收缴的透明化、数字化，提升缴费效率与便捷性。</a:t>
            </a:r>
            <a:endParaRPr lang="en-US" sz="110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A515DFA-575D-485D-5F38-48B253FE35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847" y="2944532"/>
            <a:ext cx="4346653" cy="21037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系统技术亮点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1879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1879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JWT 安全认证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3368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采用无状态JWT认证机制，替代传统Session，消除服务端存储压力，确保分布式环境下的身份安全与高效验证。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651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100" y="1879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67300" y="1879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RBAC 权限体系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10100" y="23368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构建用户-角色-权限的三级解耦模型，支持动态权限配置与数据范围控制，满足企业级复杂的权限管控需求。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651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1879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12200" y="1879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前后端分离架构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3368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Vue3前端与Spring Boot后端独立部署，通过标准化RESTful接口通信，实现开发解耦，提升迭代效率与系统维护性。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" y="3911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22400" y="3911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高性能分页引擎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" y="43688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深度集成MyBatis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Plus分页插件，结合SQL索引优化与查询条件动态组装，保障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406900" y="3683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10100" y="39116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67300" y="3911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全量逻辑删除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10100" y="43688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通过标记位实现数据软删除，完整保留操作痕迹，满足审计合规要求，同时支持历史数据的快速追溯与恢复。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51800" y="3683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55000" y="39116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712200" y="3911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 业务模块化拆分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43688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后端代码按领域驱动设计(DDD)原则模块化，实现高内聚低耦合，支持功能的独立部署与灵活扩展。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651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52500" y="5753100"/>
            <a:ext cx="1028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技术总结：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系统基于成熟的 Java 生态技术栈，从架构设计到细节实现，兼顾了安全性、性能与可维护性。这套技术体系不仅支撑了当前业务的稳定运行，更为未来的业务扩展、高并发支持及微服务化演进奠定了坚实基础。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团队协作与开发历程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13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8796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Day1</a:t>
            </a: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需求与设计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产出《需求规格说明书》与架构文档，确立技术栈与开发规范，为项目奠定基础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238500"/>
            <a:ext cx="2413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33401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Day2</a:t>
            </a: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完成数据库ER模型设计，编写表结构SQL脚本，定义数据字典与存储过程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699000"/>
            <a:ext cx="2413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48006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Day</a:t>
            </a: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2~5 ·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实现核心业务RESTful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API，完成权限控制、日志系统及业务逻辑层的开发与自测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429000" y="1778000"/>
            <a:ext cx="2413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556000" y="18796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Day2~5</a:t>
            </a: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基于Vue3+Element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Plus实现页面UI，完成组件封装、状态管理及接口联调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429000" y="3238500"/>
            <a:ext cx="2413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556000" y="33401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Day</a:t>
            </a: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4~5 ·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测试与联调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执行黑盒与白盒测试，记录并修复Bug，完成系统全流程集成验证与性能优化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429000" y="4699000"/>
            <a:ext cx="2413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556000" y="48006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Day6</a:t>
            </a: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zh-CN" alt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准备答辩</a:t>
            </a:r>
            <a:endParaRPr lang="en-US" altLang="zh-CN" sz="1400" b="1" i="0" u="none" strike="noStrike" dirty="0">
              <a:solidFill>
                <a:srgbClr val="2563E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编写用户手册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文档，筹备项目演示与答辩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t="32" b="32"/>
          <a:stretch>
            <a:fillRect/>
          </a:stretch>
        </p:blipFill>
        <p:spPr>
          <a:xfrm>
            <a:off x="6819153" y="1324535"/>
            <a:ext cx="4064000" cy="2286000"/>
          </a:xfrm>
          <a:prstGeom prst="roundRect">
            <a:avLst>
              <a:gd name="adj" fmla="val 8888"/>
            </a:avLst>
          </a:prstGeom>
          <a:noFill/>
          <a:ln w="25400" cap="flat" cmpd="sng">
            <a:solidFill>
              <a:srgbClr val="2563EB">
                <a:alpha val="4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540500" y="4318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35750" y="4372535"/>
            <a:ext cx="2349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👨‍💻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组长</a:t>
            </a: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胡林康</a:t>
            </a:r>
            <a:endParaRPr lang="en-US" altLang="zh-CN" sz="1400" b="1" i="0" u="none" strike="noStrike" dirty="0">
              <a:solidFill>
                <a:srgbClr val="2563E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</a:t>
            </a:r>
            <a:r>
              <a:rPr lang="zh-CN" alt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项目整体把控与文档编写制作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统筹团队任务分配与进度把控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271000" y="4318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416676" y="4381500"/>
            <a:ext cx="2349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👥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核心开发组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成员分工协作：负责前端页面实现与组件封装，完成数据库设计及后端业务模块开发，执行系统测试并编写项目文档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08333"/>
              </a:lnSpc>
            </a:pPr>
            <a:endParaRPr lang="en-US" sz="1200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333"/>
              </a:lnSpc>
            </a:pPr>
            <a:r>
              <a:rPr lang="zh-CN" alt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后端编写：高攀 李军霖</a:t>
            </a:r>
            <a:endParaRPr lang="en-US" altLang="zh-CN" sz="12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333"/>
              </a:lnSpc>
            </a:pP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前端编写：吴兴强 向乾坤</a:t>
            </a:r>
            <a:endParaRPr lang="en-US" sz="12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247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18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数据库表设计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500" y="1905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492500" y="2222500"/>
            <a:ext cx="247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12+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3048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2222500"/>
            <a:ext cx="247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50+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3048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REST API 接口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953500" y="1905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953500" y="2222500"/>
            <a:ext cx="247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53500" y="3048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达成课程设计</a:t>
            </a:r>
            <a:r>
              <a:rPr lang="zh-CN" alt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基本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要求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22400" y="44450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用户端多元触达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1016000" y="49784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开发微信小程序实现轻量化访问，同步打造物业巡检专用APP，覆盖多终端场景，提升用户使用便捷性与管理效率</a:t>
            </a:r>
            <a:r>
              <a:rPr lang="en-US" sz="1400" b="0" i="0" u="none" strike="noStrike" dirty="0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3815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4445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41900" y="44450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核心业务闭环建设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49784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集成安全合规的在线支付功能，打通费用缴纳全链路；搭建智能消息推送体系，实现通知、催缴与预警的实时触达。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4445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61400" y="44450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智能化与数据赋能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49784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引入AI智能客服系统，自动响应常见咨询；开发可视化数据大屏，实时监控运营数据与设备状态，辅助科学决策</a:t>
            </a:r>
            <a:r>
              <a:rPr lang="en-US" sz="1400" b="0" i="0" u="none" strike="noStrike" dirty="0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762000" y="-762000"/>
            <a:ext cx="2032000" cy="2032000"/>
          </a:xfrm>
          <a:prstGeom prst="ellipse">
            <a:avLst/>
          </a:prstGeom>
          <a:solidFill>
            <a:srgbClr val="2563EB">
              <a:alpha val="25000"/>
            </a:srgbClr>
          </a:solidFill>
          <a:ln cap="flat" cmpd="sng">
            <a:solidFill>
              <a:srgbClr val="0C4AD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0" y="5080000"/>
            <a:ext cx="2794000" cy="2794000"/>
          </a:xfrm>
          <a:prstGeom prst="ellipse">
            <a:avLst/>
          </a:prstGeom>
          <a:solidFill>
            <a:srgbClr val="2563EB">
              <a:alpha val="18000"/>
            </a:srgbClr>
          </a:solidFill>
          <a:ln cap="flat" cmpd="sng">
            <a:solidFill>
              <a:srgbClr val="0C4AD2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41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感谢各位老师聆听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20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欢迎提出宝贵意见 ——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1626</Words>
  <Application>Microsoft Office PowerPoint</Application>
  <PresentationFormat>宽屏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Link Hu</cp:lastModifiedBy>
  <cp:revision>4</cp:revision>
  <dcterms:modified xsi:type="dcterms:W3CDTF">2026-07-07T11:56:39Z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{"Label":"1","ContentProducer":"001191110102MACQD9K64010000","ProduceID":"7659732192277040350","ReservedCode1":"","ContentPropagator":"","PropagateID":"","ReservedCode2":""}</vt:lpwstr>
  </property>
</Properties>
</file>